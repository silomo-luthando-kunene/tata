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147474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230390"/>
            <a:ext cx="8368200" cy="3160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</a:t>
            </a:r>
            <a:r>
              <a:rPr lang="en-US" sz="1600" dirty="0"/>
              <a:t>Customer demographics, repayment history, credit utilization, delinquency flags, spending patterns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</a:t>
            </a:r>
            <a:r>
              <a:rPr lang="en-ZA" sz="1600" dirty="0"/>
              <a:t>Risk Scoring (AI Model Prediction) -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Predicts probability of delinquency using logistic regression. Assigns customers into risk tiers: Low / Medium / High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Decision Engine (Intervention Logic) - Maps risk tier to specific actions. Uses rules + model insights (e.g., high risk → early outreach; medium risk → personalized reminders)</a:t>
            </a:r>
            <a:endParaRPr lang="en-GB" sz="1600" dirty="0"/>
          </a:p>
          <a:p>
            <a:r>
              <a:rPr lang="en-US" sz="1600" b="1" dirty="0"/>
              <a:t>Action &amp; Learning Loop: </a:t>
            </a:r>
            <a:r>
              <a:rPr lang="en-US" sz="1600" dirty="0"/>
              <a:t>Executes intervention (SMS, email, agent call, hardship offer). Tracks outcomes → model retrains on new repayment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0EDC5B-A814-77AE-44EB-BF9622186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281759"/>
              </p:ext>
            </p:extLst>
          </p:nvPr>
        </p:nvGraphicFramePr>
        <p:xfrm>
          <a:off x="387350" y="2624587"/>
          <a:ext cx="8369300" cy="1524000"/>
        </p:xfrm>
        <a:graphic>
          <a:graphicData uri="http://schemas.openxmlformats.org/drawingml/2006/table">
            <a:tbl>
              <a:tblPr/>
              <a:tblGrid>
                <a:gridCol w="4184650">
                  <a:extLst>
                    <a:ext uri="{9D8B030D-6E8A-4147-A177-3AD203B41FA5}">
                      <a16:colId xmlns:a16="http://schemas.microsoft.com/office/drawing/2014/main" val="2435172536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687620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Autonomous AI Actions</a:t>
                      </a:r>
                      <a:endParaRPr lang="en-Z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Human Oversight Required</a:t>
                      </a:r>
                      <a:endParaRPr lang="en-Z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415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Automated SMS/email reminders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Reviewing hardship program eligibility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747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Predicting delinquency risk scores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Handling complex or sensitive customer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308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Classifying customers into risk tiers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Approving escalations or account restructuring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584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Triggering early nudges for at-risk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Monitoring fairness and model drift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16500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FE933C7-96FE-7709-14EE-05D9DD3E2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350" y="1382372"/>
            <a:ext cx="57716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AI handles high-volume, low-risk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Humans intervene in high-impact, sensitive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334549"/>
            <a:ext cx="8368200" cy="3653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b="1" dirty="0"/>
              <a:t>Key Guardrails:</a:t>
            </a:r>
            <a:endParaRPr lang="en-US" dirty="0"/>
          </a:p>
          <a:p>
            <a:r>
              <a:rPr lang="en-US" b="1" dirty="0"/>
              <a:t>Fairness Monitoring</a:t>
            </a:r>
            <a:endParaRPr lang="en-US" dirty="0"/>
          </a:p>
          <a:p>
            <a:pPr lvl="1"/>
            <a:r>
              <a:rPr lang="en-US" dirty="0"/>
              <a:t>Quarterly bias checks across age, income bracket, account tenure.</a:t>
            </a:r>
          </a:p>
          <a:p>
            <a:r>
              <a:rPr lang="en-US" b="1" dirty="0"/>
              <a:t>Explainability Standards</a:t>
            </a:r>
            <a:endParaRPr lang="en-US" dirty="0"/>
          </a:p>
          <a:p>
            <a:pPr lvl="1"/>
            <a:r>
              <a:rPr lang="en-US" dirty="0"/>
              <a:t>Simple, interpretable model (logistic regression) supports transparency.</a:t>
            </a:r>
          </a:p>
          <a:p>
            <a:pPr lvl="1"/>
            <a:r>
              <a:rPr lang="en-US" dirty="0"/>
              <a:t>Clear reason codes: “High utilization” / “Recent missed payment” etc.</a:t>
            </a:r>
          </a:p>
          <a:p>
            <a:r>
              <a:rPr lang="en-US" b="1" dirty="0"/>
              <a:t>Regulatory Compliance</a:t>
            </a:r>
            <a:endParaRPr lang="en-US" dirty="0"/>
          </a:p>
          <a:p>
            <a:pPr lvl="1"/>
            <a:r>
              <a:rPr lang="en-US" dirty="0"/>
              <a:t>Align with local financial regulations and data-privacy laws.</a:t>
            </a:r>
          </a:p>
          <a:p>
            <a:r>
              <a:rPr lang="en-US" b="1" dirty="0"/>
              <a:t>Human-in-the-Loop Controls</a:t>
            </a:r>
            <a:endParaRPr lang="en-US" dirty="0"/>
          </a:p>
          <a:p>
            <a:pPr lvl="1"/>
            <a:r>
              <a:rPr lang="en-US" dirty="0"/>
              <a:t>Oversight for hardship offers, escalations, restructuring decisions.</a:t>
            </a:r>
          </a:p>
          <a:p>
            <a:r>
              <a:rPr lang="en-US" b="1" dirty="0"/>
              <a:t>Data Privacy &amp; Security</a:t>
            </a:r>
            <a:endParaRPr lang="en-US" dirty="0"/>
          </a:p>
          <a:p>
            <a:pPr lvl="1"/>
            <a:r>
              <a:rPr lang="en-US" dirty="0"/>
              <a:t>Secure handling of financial and personal data; audit trails for each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Business KPIs (Quantitative Impact):</a:t>
            </a:r>
          </a:p>
          <a:p>
            <a:r>
              <a:rPr lang="en-US" sz="1600" b="1" dirty="0"/>
              <a:t>10–20% reduction</a:t>
            </a:r>
            <a:r>
              <a:rPr lang="en-US" sz="1600" dirty="0"/>
              <a:t> in 30-day delinquency through early interventions.</a:t>
            </a:r>
          </a:p>
          <a:p>
            <a:r>
              <a:rPr lang="en-US" sz="1600" b="1" dirty="0"/>
              <a:t>Lower operational cost</a:t>
            </a:r>
            <a:r>
              <a:rPr lang="en-US" sz="1600" dirty="0"/>
              <a:t> from automated reminders replacing manual outreach.</a:t>
            </a:r>
          </a:p>
          <a:p>
            <a:r>
              <a:rPr lang="en-US" sz="1600" b="1" dirty="0"/>
              <a:t>Higher repayment rates</a:t>
            </a:r>
            <a:r>
              <a:rPr lang="en-US" sz="1600" dirty="0"/>
              <a:t> due to personalized, timely nudges.</a:t>
            </a:r>
          </a:p>
          <a:p>
            <a:r>
              <a:rPr lang="en-US" sz="1600" b="1" dirty="0"/>
              <a:t>Improved model accuracy</a:t>
            </a:r>
            <a:r>
              <a:rPr lang="en-US" sz="1600" dirty="0"/>
              <a:t> over time through continuous learning.</a:t>
            </a:r>
          </a:p>
          <a:p>
            <a:r>
              <a:rPr lang="en-US" sz="1600" b="1" dirty="0"/>
              <a:t>Customer Outcomes (Qualitative Impact):</a:t>
            </a:r>
          </a:p>
          <a:p>
            <a:r>
              <a:rPr lang="en-US" sz="1600" b="1" dirty="0"/>
              <a:t>Less intrusive</a:t>
            </a:r>
            <a:r>
              <a:rPr lang="en-US" sz="1600" dirty="0"/>
              <a:t> and more personalized communication.</a:t>
            </a:r>
          </a:p>
          <a:p>
            <a:r>
              <a:rPr lang="en-US" sz="1600" b="1" dirty="0"/>
              <a:t>Earlier support</a:t>
            </a:r>
            <a:r>
              <a:rPr lang="en-US" sz="1600" dirty="0"/>
              <a:t> for customers experiencing financial stress.</a:t>
            </a:r>
          </a:p>
          <a:p>
            <a:r>
              <a:rPr lang="en-US" sz="1600" b="1" dirty="0"/>
              <a:t>More equitable</a:t>
            </a:r>
            <a:r>
              <a:rPr lang="en-US" sz="1600" dirty="0"/>
              <a:t> credit practices due to fairness guardrails.</a:t>
            </a:r>
          </a:p>
          <a:p>
            <a:r>
              <a:rPr lang="en-US" sz="1600" b="1" dirty="0"/>
              <a:t>Increased trust</a:t>
            </a:r>
            <a:r>
              <a:rPr lang="en-US" sz="1600" dirty="0"/>
              <a:t> in </a:t>
            </a:r>
            <a:r>
              <a:rPr lang="en-US" sz="1600" dirty="0" err="1"/>
              <a:t>Geldium’s</a:t>
            </a:r>
            <a:r>
              <a:rPr lang="en-US" sz="1600" dirty="0"/>
              <a:t> collections process.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System Architecture (Non-Technical High-Level)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481198"/>
            <a:ext cx="8368200" cy="3375474"/>
          </a:xfrm>
        </p:spPr>
        <p:txBody>
          <a:bodyPr/>
          <a:lstStyle/>
          <a:p>
            <a:pPr marL="114300" indent="0">
              <a:buNone/>
            </a:pPr>
            <a:r>
              <a:rPr lang="en-ZA" b="1" dirty="0"/>
              <a:t>Boxes:</a:t>
            </a:r>
            <a:endParaRPr lang="en-ZA" dirty="0"/>
          </a:p>
          <a:p>
            <a:r>
              <a:rPr lang="en-ZA" dirty="0"/>
              <a:t>Data Sources → Model Layer → Decision Engine → Action Layer → Monitoring Dashboard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ZA" b="1" dirty="0"/>
              <a:t>Roadmap for Implementation</a:t>
            </a:r>
            <a:r>
              <a:rPr lang="en-US" b="1" dirty="0"/>
              <a:t>:</a:t>
            </a:r>
          </a:p>
          <a:p>
            <a:r>
              <a:rPr lang="en-US" b="1" dirty="0"/>
              <a:t>Phase 1:</a:t>
            </a:r>
            <a:r>
              <a:rPr lang="en-US" dirty="0"/>
              <a:t> Build model, fairness benchmarks, and explainability rules</a:t>
            </a:r>
          </a:p>
          <a:p>
            <a:r>
              <a:rPr lang="en-US" b="1" dirty="0"/>
              <a:t>Phase 2:</a:t>
            </a:r>
            <a:r>
              <a:rPr lang="en-US" dirty="0"/>
              <a:t> Deploy pilot with limited customer segment</a:t>
            </a:r>
          </a:p>
          <a:p>
            <a:r>
              <a:rPr lang="en-US" b="1" dirty="0"/>
              <a:t>Phase 3:</a:t>
            </a:r>
            <a:r>
              <a:rPr lang="en-US" dirty="0"/>
              <a:t> Automate low-risk actions; keep humans for escalations</a:t>
            </a:r>
          </a:p>
          <a:p>
            <a:r>
              <a:rPr lang="en-US" b="1" dirty="0"/>
              <a:t>Phase 4:</a:t>
            </a:r>
            <a:r>
              <a:rPr lang="en-US" dirty="0"/>
              <a:t> Scale and integrate full monitoring dashboard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438</Words>
  <Application>Microsoft Office PowerPoint</Application>
  <PresentationFormat>On-screen Show (16:9)</PresentationFormat>
  <Paragraphs>53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</vt:lpstr>
      <vt:lpstr>Arial</vt:lpstr>
      <vt:lpstr>Roboto Slab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System Architecture (Non-Technical High-Level)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Silomo Kunene</dc:creator>
  <cp:lastModifiedBy>Silomo Kunene</cp:lastModifiedBy>
  <cp:revision>8</cp:revision>
  <dcterms:modified xsi:type="dcterms:W3CDTF">2025-12-30T06:45:51Z</dcterms:modified>
</cp:coreProperties>
</file>